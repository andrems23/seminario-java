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embeddedFontLst>
    <p:embeddedFont>
      <p:font typeface="Poppins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  <p:embeddedFont>
      <p:font typeface="Urbanist"/>
      <p:regular r:id="rId37"/>
      <p:bold r:id="rId38"/>
      <p:italic r:id="rId39"/>
      <p:boldItalic r:id="rId40"/>
    </p:embeddedFont>
    <p:embeddedFont>
      <p:font typeface="JetBrains Mon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80C27F-4FB5-443D-98DB-2DDFE9BF1B5C}">
  <a:tblStyle styleId="{1580C27F-4FB5-443D-98DB-2DDFE9BF1B5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-boldItalic.fntdata"/><Relationship Id="rId20" Type="http://schemas.openxmlformats.org/officeDocument/2006/relationships/slide" Target="slides/slide14.xml"/><Relationship Id="rId42" Type="http://schemas.openxmlformats.org/officeDocument/2006/relationships/font" Target="fonts/JetBrainsMono-bold.fntdata"/><Relationship Id="rId41" Type="http://schemas.openxmlformats.org/officeDocument/2006/relationships/font" Target="fonts/JetBrainsMono-regular.fntdata"/><Relationship Id="rId22" Type="http://schemas.openxmlformats.org/officeDocument/2006/relationships/slide" Target="slides/slide16.xml"/><Relationship Id="rId44" Type="http://schemas.openxmlformats.org/officeDocument/2006/relationships/font" Target="fonts/JetBrainsMono-boldItalic.fntdata"/><Relationship Id="rId21" Type="http://schemas.openxmlformats.org/officeDocument/2006/relationships/slide" Target="slides/slide15.xml"/><Relationship Id="rId43" Type="http://schemas.openxmlformats.org/officeDocument/2006/relationships/font" Target="fonts/JetBrainsMono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5.xml"/><Relationship Id="rId33" Type="http://schemas.openxmlformats.org/officeDocument/2006/relationships/font" Target="fonts/Lato-regular.fntdata"/><Relationship Id="rId10" Type="http://schemas.openxmlformats.org/officeDocument/2006/relationships/slide" Target="slides/slide4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7.xml"/><Relationship Id="rId35" Type="http://schemas.openxmlformats.org/officeDocument/2006/relationships/font" Target="fonts/Lato-italic.fntdata"/><Relationship Id="rId12" Type="http://schemas.openxmlformats.org/officeDocument/2006/relationships/slide" Target="slides/slide6.xml"/><Relationship Id="rId34" Type="http://schemas.openxmlformats.org/officeDocument/2006/relationships/font" Target="fonts/Lato-bold.fntdata"/><Relationship Id="rId15" Type="http://schemas.openxmlformats.org/officeDocument/2006/relationships/slide" Target="slides/slide9.xml"/><Relationship Id="rId37" Type="http://schemas.openxmlformats.org/officeDocument/2006/relationships/font" Target="fonts/Urbanist-regular.fntdata"/><Relationship Id="rId14" Type="http://schemas.openxmlformats.org/officeDocument/2006/relationships/slide" Target="slides/slide8.xml"/><Relationship Id="rId36" Type="http://schemas.openxmlformats.org/officeDocument/2006/relationships/font" Target="fonts/Lato-boldItalic.fntdata"/><Relationship Id="rId17" Type="http://schemas.openxmlformats.org/officeDocument/2006/relationships/slide" Target="slides/slide11.xml"/><Relationship Id="rId39" Type="http://schemas.openxmlformats.org/officeDocument/2006/relationships/font" Target="fonts/Urbanist-italic.fntdata"/><Relationship Id="rId16" Type="http://schemas.openxmlformats.org/officeDocument/2006/relationships/slide" Target="slides/slide10.xml"/><Relationship Id="rId38" Type="http://schemas.openxmlformats.org/officeDocument/2006/relationships/font" Target="fonts/Urbanist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10d5661ad_0_184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e10d5661ad_0_184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e10d5661ad_0_184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10d5661ad_0_220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e10d5661ad_0_220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e10d5661ad_0_220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8" name="Google Shape;338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8" name="Google Shape;38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0B1020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0B102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2"/>
          <p:cNvSpPr/>
          <p:nvPr/>
        </p:nvSpPr>
        <p:spPr>
          <a:xfrm>
            <a:off x="0" y="6565392"/>
            <a:ext cx="12192000" cy="292500"/>
          </a:xfrm>
          <a:prstGeom prst="rect">
            <a:avLst/>
          </a:prstGeom>
          <a:solidFill>
            <a:srgbClr val="111A33"/>
          </a:solidFill>
          <a:ln cap="flat" cmpd="sng" w="12700">
            <a:solidFill>
              <a:srgbClr val="111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11247420" y="660196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8190B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8190B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8190B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8190B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8190B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8190B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8190B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8190B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8190B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Relationship Id="rId6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3"/>
          <p:cNvSpPr txBox="1"/>
          <p:nvPr/>
        </p:nvSpPr>
        <p:spPr>
          <a:xfrm>
            <a:off x="305276" y="2103090"/>
            <a:ext cx="11581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Algoritmos 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Ordenação</a:t>
            </a: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581025" y="4160490"/>
            <a:ext cx="11029950" cy="346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Visualização, Eficiência e Fundamentos Numéricos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533875" y="2275187"/>
            <a:ext cx="554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 que é o Big 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923925" y="3786187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923925" y="4052887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 Régua da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Eficiência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7075" y="1776250"/>
            <a:ext cx="5016250" cy="344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425" y="2871775"/>
            <a:ext cx="5425600" cy="24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81025" y="3062287"/>
            <a:ext cx="527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Mede como o tempo de execução cresce conforme o volume de dados (</a:t>
            </a: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) aumenta.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3786187"/>
            <a:ext cx="4896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O(n²)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: Crescimento quadrático (Métodos Fracos).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4052887"/>
            <a:ext cx="4896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O(n log n)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: Eficiência industrial (Métodos Fortes).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81025" y="4510087"/>
            <a:ext cx="527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Essencial para evitar o travamento de hardware em escala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02933" y="347472"/>
            <a:ext cx="8046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7FAFF"/>
                </a:solidFill>
                <a:latin typeface="Urbanist"/>
                <a:ea typeface="Urbanist"/>
                <a:cs typeface="Urbanist"/>
                <a:sym typeface="Urbanist"/>
              </a:rPr>
              <a:t>Hierarquia: melhor para pior</a:t>
            </a:r>
            <a:endParaRPr b="1" i="0" sz="30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521222" y="850392"/>
            <a:ext cx="8687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D4"/>
              </a:buClr>
              <a:buSzPts val="1200"/>
              <a:buFont typeface="Arial"/>
              <a:buNone/>
            </a:pPr>
            <a:r>
              <a:rPr i="0" lang="en-US" u="none" cap="none" strike="noStrike">
                <a:solidFill>
                  <a:srgbClr val="AAB7D4"/>
                </a:solidFill>
                <a:latin typeface="Urbanist"/>
                <a:ea typeface="Urbanist"/>
                <a:cs typeface="Urbanist"/>
                <a:sym typeface="Urbanist"/>
              </a:rPr>
              <a:t>Quanto mais à direita, mais rápido o tempo explode quando n cresce.</a:t>
            </a:r>
            <a:endParaRPr i="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511483" y="2386583"/>
            <a:ext cx="1508700" cy="502800"/>
          </a:xfrm>
          <a:prstGeom prst="rect">
            <a:avLst/>
          </a:prstGeom>
          <a:solidFill>
            <a:srgbClr val="22C55E"/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O(1)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465762" y="3072383"/>
            <a:ext cx="1600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7FAFF"/>
                </a:solidFill>
              </a:rPr>
              <a:t>Constante</a:t>
            </a:r>
            <a:endParaRPr b="1"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465762" y="3557014"/>
            <a:ext cx="1627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7D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D4"/>
                </a:solidFill>
                <a:latin typeface="Arial"/>
                <a:ea typeface="Arial"/>
                <a:cs typeface="Arial"/>
                <a:sym typeface="Arial"/>
              </a:rPr>
              <a:t>Sempre o mesmo tempo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2047716" y="2514599"/>
            <a:ext cx="255900" cy="255900"/>
          </a:xfrm>
          <a:prstGeom prst="chevron">
            <a:avLst>
              <a:gd fmla="val 50000" name="adj"/>
            </a:avLst>
          </a:prstGeom>
          <a:solidFill>
            <a:srgbClr val="53617E"/>
          </a:solidFill>
          <a:ln cap="flat" cmpd="sng" w="12700">
            <a:solidFill>
              <a:srgbClr val="5361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2413486" y="2386583"/>
            <a:ext cx="1508700" cy="502800"/>
          </a:xfrm>
          <a:prstGeom prst="rect">
            <a:avLst/>
          </a:prstGeom>
          <a:solidFill>
            <a:srgbClr val="38BDF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O(log n)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2367765" y="3072383"/>
            <a:ext cx="1600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Logarítmica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2367765" y="3557014"/>
            <a:ext cx="1627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7D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D4"/>
                </a:solidFill>
                <a:latin typeface="Arial"/>
                <a:ea typeface="Arial"/>
                <a:cs typeface="Arial"/>
                <a:sym typeface="Arial"/>
              </a:rPr>
              <a:t>Corta o problema pela metade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3949719" y="2514599"/>
            <a:ext cx="255900" cy="255900"/>
          </a:xfrm>
          <a:prstGeom prst="chevron">
            <a:avLst>
              <a:gd fmla="val 50000" name="adj"/>
            </a:avLst>
          </a:prstGeom>
          <a:solidFill>
            <a:srgbClr val="53617E"/>
          </a:solidFill>
          <a:ln cap="flat" cmpd="sng" w="12700">
            <a:solidFill>
              <a:srgbClr val="5361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4315489" y="2386583"/>
            <a:ext cx="1508700" cy="502800"/>
          </a:xfrm>
          <a:prstGeom prst="rect">
            <a:avLst/>
          </a:prstGeom>
          <a:solidFill>
            <a:srgbClr val="FACC15"/>
          </a:solidFill>
          <a:ln cap="flat" cmpd="sng" w="9525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O(n)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4269768" y="3072383"/>
            <a:ext cx="1600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Linear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4269768" y="3557014"/>
            <a:ext cx="1627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7D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D4"/>
                </a:solidFill>
                <a:latin typeface="Arial"/>
                <a:ea typeface="Arial"/>
                <a:cs typeface="Arial"/>
                <a:sym typeface="Arial"/>
              </a:rPr>
              <a:t>Percorre a lista uma vez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851722" y="2514599"/>
            <a:ext cx="255900" cy="255900"/>
          </a:xfrm>
          <a:prstGeom prst="chevron">
            <a:avLst>
              <a:gd fmla="val 50000" name="adj"/>
            </a:avLst>
          </a:prstGeom>
          <a:solidFill>
            <a:srgbClr val="53617E"/>
          </a:solidFill>
          <a:ln cap="flat" cmpd="sng" w="12700">
            <a:solidFill>
              <a:srgbClr val="5361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6217492" y="2386583"/>
            <a:ext cx="1508700" cy="502800"/>
          </a:xfrm>
          <a:prstGeom prst="rect">
            <a:avLst/>
          </a:prstGeom>
          <a:solidFill>
            <a:srgbClr val="A78BFA"/>
          </a:solidFill>
          <a:ln cap="flat" cmpd="sng" w="952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O(n log n)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6171770" y="3072383"/>
            <a:ext cx="1600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Linear-log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171770" y="3557014"/>
            <a:ext cx="1627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7D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D4"/>
                </a:solidFill>
                <a:latin typeface="Arial"/>
                <a:ea typeface="Arial"/>
                <a:cs typeface="Arial"/>
                <a:sym typeface="Arial"/>
              </a:rPr>
              <a:t>Métodos fortes de ordenação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7753724" y="2514599"/>
            <a:ext cx="255900" cy="255900"/>
          </a:xfrm>
          <a:prstGeom prst="chevron">
            <a:avLst>
              <a:gd fmla="val 50000" name="adj"/>
            </a:avLst>
          </a:prstGeom>
          <a:solidFill>
            <a:srgbClr val="53617E"/>
          </a:solidFill>
          <a:ln cap="flat" cmpd="sng" w="12700">
            <a:solidFill>
              <a:srgbClr val="5361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8119494" y="2386583"/>
            <a:ext cx="1508700" cy="502800"/>
          </a:xfrm>
          <a:prstGeom prst="rect">
            <a:avLst/>
          </a:prstGeom>
          <a:solidFill>
            <a:srgbClr val="FB923C"/>
          </a:solidFill>
          <a:ln cap="flat" cmpd="sng" w="9525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O(n²)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8073773" y="3072383"/>
            <a:ext cx="1600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Quadrática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8073773" y="3557014"/>
            <a:ext cx="1627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7D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D4"/>
                </a:solidFill>
                <a:latin typeface="Arial"/>
                <a:ea typeface="Arial"/>
                <a:cs typeface="Arial"/>
                <a:sym typeface="Arial"/>
              </a:rPr>
              <a:t>Métodos fracos de ordenação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9655727" y="2514599"/>
            <a:ext cx="255900" cy="255900"/>
          </a:xfrm>
          <a:prstGeom prst="chevron">
            <a:avLst>
              <a:gd fmla="val 50000" name="adj"/>
            </a:avLst>
          </a:prstGeom>
          <a:solidFill>
            <a:srgbClr val="53617E"/>
          </a:solidFill>
          <a:ln cap="flat" cmpd="sng" w="12700">
            <a:solidFill>
              <a:srgbClr val="5361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10021497" y="2386583"/>
            <a:ext cx="1508700" cy="502800"/>
          </a:xfrm>
          <a:prstGeom prst="rect">
            <a:avLst/>
          </a:prstGeom>
          <a:solidFill>
            <a:srgbClr val="F87171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O(2ⁿ)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9975776" y="3072383"/>
            <a:ext cx="1600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Exponencial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9975776" y="3557014"/>
            <a:ext cx="1627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7D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7D4"/>
                </a:solidFill>
                <a:latin typeface="Arial"/>
                <a:ea typeface="Arial"/>
                <a:cs typeface="Arial"/>
                <a:sym typeface="Arial"/>
              </a:rPr>
              <a:t>Dobra a cada item novo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/>
          <p:nvPr/>
        </p:nvSpPr>
        <p:spPr>
          <a:xfrm>
            <a:off x="502933" y="347472"/>
            <a:ext cx="8046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7FAFF"/>
                </a:solidFill>
                <a:latin typeface="Urbanist"/>
                <a:ea typeface="Urbanist"/>
                <a:cs typeface="Urbanist"/>
                <a:sym typeface="Urbanist"/>
              </a:rPr>
              <a:t>Ordenação: métodos fracos e fortes</a:t>
            </a:r>
            <a:endParaRPr b="1" i="0" sz="30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521222" y="850392"/>
            <a:ext cx="8687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D4"/>
              </a:buClr>
              <a:buSzPts val="1200"/>
              <a:buFont typeface="Arial"/>
              <a:buNone/>
            </a:pPr>
            <a:r>
              <a:rPr i="0" lang="en-US" sz="1500" u="none" cap="none" strike="noStrike">
                <a:solidFill>
                  <a:srgbClr val="AAB7D4"/>
                </a:solidFill>
                <a:latin typeface="Urbanist"/>
                <a:ea typeface="Urbanist"/>
                <a:cs typeface="Urbanist"/>
                <a:sym typeface="Urbanist"/>
              </a:rPr>
              <a:t>O pior caso muda muito entre os algoritmos de ordenação.</a:t>
            </a:r>
            <a:endParaRPr i="0" sz="15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714440" y="1833310"/>
            <a:ext cx="4755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Métodos fracos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851603" y="2445958"/>
            <a:ext cx="4480500" cy="658500"/>
          </a:xfrm>
          <a:prstGeom prst="rect">
            <a:avLst/>
          </a:prstGeom>
          <a:solidFill>
            <a:srgbClr val="24170D"/>
          </a:solidFill>
          <a:ln cap="flat" cmpd="sng" w="9525">
            <a:solidFill>
              <a:srgbClr val="5C37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Bubble Sort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O(n²) - muitas trocas entre vizinhos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851603" y="3406078"/>
            <a:ext cx="4480500" cy="658500"/>
          </a:xfrm>
          <a:prstGeom prst="rect">
            <a:avLst/>
          </a:prstGeom>
          <a:solidFill>
            <a:srgbClr val="24170D"/>
          </a:solidFill>
          <a:ln cap="flat" cmpd="sng" w="9525">
            <a:solidFill>
              <a:srgbClr val="5C37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Selection Sort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O(n²) - procura o menor várias vezes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851603" y="4366198"/>
            <a:ext cx="4480500" cy="658500"/>
          </a:xfrm>
          <a:prstGeom prst="rect">
            <a:avLst/>
          </a:prstGeom>
          <a:solidFill>
            <a:srgbClr val="24170D"/>
          </a:solidFill>
          <a:ln cap="flat" cmpd="sng" w="9525">
            <a:solidFill>
              <a:srgbClr val="5C37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Insertion Sort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O(n²) - desloca muitos itens no pior caso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6475313" y="1833310"/>
            <a:ext cx="4755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Métodos fortes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6612477" y="2445958"/>
            <a:ext cx="4480500" cy="658500"/>
          </a:xfrm>
          <a:prstGeom prst="rect">
            <a:avLst/>
          </a:prstGeom>
          <a:solidFill>
            <a:srgbClr val="082033"/>
          </a:solidFill>
          <a:ln cap="flat" cmpd="sng" w="9525">
            <a:solidFill>
              <a:srgbClr val="1C54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Merge Sort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O(n log n) - divide e junta ordenado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6612477" y="3406078"/>
            <a:ext cx="4480500" cy="658500"/>
          </a:xfrm>
          <a:prstGeom prst="rect">
            <a:avLst/>
          </a:prstGeom>
          <a:solidFill>
            <a:srgbClr val="082033"/>
          </a:solidFill>
          <a:ln cap="flat" cmpd="sng" w="9525">
            <a:solidFill>
              <a:srgbClr val="1C54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Heap Sort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O(n log n) - mantém bom pior caso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6612477" y="4366198"/>
            <a:ext cx="4480500" cy="658500"/>
          </a:xfrm>
          <a:prstGeom prst="rect">
            <a:avLst/>
          </a:prstGeom>
          <a:solidFill>
            <a:srgbClr val="082033"/>
          </a:solidFill>
          <a:ln cap="flat" cmpd="sng" w="9525">
            <a:solidFill>
              <a:srgbClr val="1C54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Quick Sort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F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F7FAFF"/>
                </a:solidFill>
                <a:latin typeface="Arial"/>
                <a:ea typeface="Arial"/>
                <a:cs typeface="Arial"/>
                <a:sym typeface="Arial"/>
              </a:rPr>
              <a:t>médio O(n log n), pior O(n²) - pivô ruim divide mal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/>
          <p:nvPr/>
        </p:nvSpPr>
        <p:spPr>
          <a:xfrm>
            <a:off x="5619750" y="2652712"/>
            <a:ext cx="952500" cy="477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295275" y="2986087"/>
            <a:ext cx="1160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Métodos </a:t>
            </a:r>
            <a:r>
              <a:rPr b="1" i="0" lang="en-US" sz="4800" u="none" cap="none" strike="noStrik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Fracos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4062412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sng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Complexidade </a:t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177" y="4065156"/>
            <a:ext cx="603795" cy="202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923925" y="3914775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923925" y="4181475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Visual: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Bubble Sort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088" y="1591056"/>
            <a:ext cx="5276850" cy="3931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912" y="2587752"/>
            <a:ext cx="5425600" cy="2490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18"/>
          <p:cNvGrpSpPr/>
          <p:nvPr/>
        </p:nvGrpSpPr>
        <p:grpSpPr>
          <a:xfrm>
            <a:off x="452475" y="2989334"/>
            <a:ext cx="5367600" cy="1228000"/>
            <a:chOff x="518475" y="2895034"/>
            <a:chExt cx="5367600" cy="1228000"/>
          </a:xfrm>
        </p:grpSpPr>
        <p:grpSp>
          <p:nvGrpSpPr>
            <p:cNvPr id="167" name="Google Shape;167;p18"/>
            <p:cNvGrpSpPr/>
            <p:nvPr/>
          </p:nvGrpSpPr>
          <p:grpSpPr>
            <a:xfrm>
              <a:off x="518475" y="2895034"/>
              <a:ext cx="5337725" cy="837341"/>
              <a:chOff x="518475" y="2895034"/>
              <a:chExt cx="5337725" cy="837341"/>
            </a:xfrm>
          </p:grpSpPr>
          <p:sp>
            <p:nvSpPr>
              <p:cNvPr id="168" name="Google Shape;168;p18"/>
              <p:cNvSpPr txBox="1"/>
              <p:nvPr/>
            </p:nvSpPr>
            <p:spPr>
              <a:xfrm>
                <a:off x="518475" y="3501375"/>
                <a:ext cx="52767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38100" spcFirstLastPara="1" rIns="0" wrap="square" tIns="0">
                <a:spAutoFit/>
              </a:bodyPr>
              <a:lstStyle/>
              <a:p>
                <a:pPr indent="-323850" lvl="0" marL="457200" marR="0" rtl="0" algn="l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4A3B8"/>
                  </a:buClr>
                  <a:buSzPts val="1500"/>
                  <a:buFont typeface="Urbanist"/>
                  <a:buChar char="●"/>
                </a:pPr>
                <a:r>
                  <a:rPr b="0" i="0" lang="en-US" sz="1500" u="none" cap="none" strike="noStrike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O maior valor flutua para o final a cada passagem.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8"/>
              <p:cNvSpPr txBox="1"/>
              <p:nvPr/>
            </p:nvSpPr>
            <p:spPr>
              <a:xfrm>
                <a:off x="579200" y="2895034"/>
                <a:ext cx="52770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-323850" lvl="0" marL="457200" marR="0" rtl="0" algn="l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4A3B8"/>
                  </a:buClr>
                  <a:buSzPts val="1500"/>
                  <a:buFont typeface="Urbanist"/>
                  <a:buChar char="●"/>
                </a:pPr>
                <a:r>
                  <a:rPr b="0" i="0" lang="en-US" sz="1500" u="none" cap="none" strike="noStrike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O método "bolha" compara pares adjacentes e troca os valores se estiverem fora de ordem.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0" name="Google Shape;170;p18"/>
            <p:cNvSpPr txBox="1"/>
            <p:nvPr/>
          </p:nvSpPr>
          <p:spPr>
            <a:xfrm>
              <a:off x="518475" y="3892034"/>
              <a:ext cx="53676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38100" spcFirstLastPara="1" rIns="0" wrap="square" tIns="0">
              <a:spAutoFit/>
            </a:bodyPr>
            <a:lstStyle/>
            <a:p>
              <a:pPr indent="-323850" lvl="0" marL="45720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500"/>
                <a:buFont typeface="Urbanist"/>
                <a:buChar char="●"/>
              </a:pPr>
              <a:r>
                <a:rPr b="0" i="0" lang="en-US" sz="1500" u="none" cap="none" strike="noStrik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Altamente ineficiente para grandes volumes.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923925" y="4029075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923925" y="4295775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Visual: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Selection Sort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088" y="1591056"/>
            <a:ext cx="5212081" cy="36850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19"/>
          <p:cNvGrpSpPr/>
          <p:nvPr/>
        </p:nvGrpSpPr>
        <p:grpSpPr>
          <a:xfrm>
            <a:off x="438912" y="2587752"/>
            <a:ext cx="5678050" cy="2490725"/>
            <a:chOff x="506725" y="3103375"/>
            <a:chExt cx="5678050" cy="2490725"/>
          </a:xfrm>
        </p:grpSpPr>
        <p:pic>
          <p:nvPicPr>
            <p:cNvPr descr="image.png" id="182" name="Google Shape;182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6725" y="3103375"/>
              <a:ext cx="5678050" cy="24907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3" name="Google Shape;183;p19"/>
            <p:cNvGrpSpPr/>
            <p:nvPr/>
          </p:nvGrpSpPr>
          <p:grpSpPr>
            <a:xfrm>
              <a:off x="568963" y="3586200"/>
              <a:ext cx="5346212" cy="958423"/>
              <a:chOff x="568963" y="3586200"/>
              <a:chExt cx="5346212" cy="958423"/>
            </a:xfrm>
          </p:grpSpPr>
          <p:sp>
            <p:nvSpPr>
              <p:cNvPr id="184" name="Google Shape;184;p19"/>
              <p:cNvSpPr txBox="1"/>
              <p:nvPr/>
            </p:nvSpPr>
            <p:spPr>
              <a:xfrm>
                <a:off x="638175" y="3586200"/>
                <a:ext cx="52770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-323850" lvl="0" marL="457200" marR="0" rtl="0" algn="l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4A3B8"/>
                  </a:buClr>
                  <a:buSzPts val="1500"/>
                  <a:buFont typeface="Urbanist"/>
                  <a:buChar char="●"/>
                </a:pPr>
                <a:r>
                  <a:rPr b="0" i="0" lang="en-US" sz="1500" u="none" cap="none" strike="noStrike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Varre a lista inteira buscando o </a:t>
                </a:r>
                <a:r>
                  <a:rPr b="1" i="0" lang="en-US" sz="1500" u="none" cap="none" strike="noStrike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valor mínimo</a:t>
                </a:r>
                <a:r>
                  <a:rPr b="0" i="0" lang="en-US" sz="1500" u="none" cap="none" strike="noStrike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 absoluto e o fixa na primeira posição livre.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19"/>
              <p:cNvSpPr txBox="1"/>
              <p:nvPr/>
            </p:nvSpPr>
            <p:spPr>
              <a:xfrm>
                <a:off x="568963" y="4313623"/>
                <a:ext cx="50988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38100" spcFirstLastPara="1" rIns="0" wrap="square" tIns="0">
                <a:spAutoFit/>
              </a:bodyPr>
              <a:lstStyle/>
              <a:p>
                <a:pPr indent="-323850" lvl="0" marL="457200" marR="0" rtl="0" algn="l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4A3B8"/>
                  </a:buClr>
                  <a:buSzPts val="1500"/>
                  <a:buFont typeface="Urbanist"/>
                  <a:buChar char="●"/>
                </a:pPr>
                <a:r>
                  <a:rPr b="0" i="0" lang="en-US" sz="1500" u="none" cap="none" strike="noStrike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Reduz o número de trocas de memória.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770100"/>
            <a:ext cx="14954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Visual: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Insertion Sort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20"/>
          <p:cNvPicPr preferRelativeResize="0"/>
          <p:nvPr/>
        </p:nvPicPr>
        <p:blipFill rotWithShape="1">
          <a:blip r:embed="rId5">
            <a:alphaModFix/>
          </a:blip>
          <a:srcRect b="0" l="2496" r="0" t="0"/>
          <a:stretch/>
        </p:blipFill>
        <p:spPr>
          <a:xfrm>
            <a:off x="6422575" y="1586487"/>
            <a:ext cx="5082174" cy="368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375" y="2588925"/>
            <a:ext cx="5678050" cy="2490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" name="Google Shape;196;p20"/>
          <p:cNvGrpSpPr/>
          <p:nvPr/>
        </p:nvGrpSpPr>
        <p:grpSpPr>
          <a:xfrm>
            <a:off x="638175" y="2963400"/>
            <a:ext cx="5425800" cy="1526525"/>
            <a:chOff x="638175" y="2963400"/>
            <a:chExt cx="5425800" cy="1526525"/>
          </a:xfrm>
        </p:grpSpPr>
        <p:grpSp>
          <p:nvGrpSpPr>
            <p:cNvPr id="197" name="Google Shape;197;p20"/>
            <p:cNvGrpSpPr/>
            <p:nvPr/>
          </p:nvGrpSpPr>
          <p:grpSpPr>
            <a:xfrm>
              <a:off x="638175" y="2963400"/>
              <a:ext cx="5425800" cy="1499150"/>
              <a:chOff x="638175" y="2963400"/>
              <a:chExt cx="5425800" cy="1499150"/>
            </a:xfrm>
          </p:grpSpPr>
          <p:grpSp>
            <p:nvGrpSpPr>
              <p:cNvPr id="198" name="Google Shape;198;p20"/>
              <p:cNvGrpSpPr/>
              <p:nvPr/>
            </p:nvGrpSpPr>
            <p:grpSpPr>
              <a:xfrm>
                <a:off x="638900" y="2963400"/>
                <a:ext cx="5330400" cy="986400"/>
                <a:chOff x="638900" y="2963400"/>
                <a:chExt cx="5330400" cy="986400"/>
              </a:xfrm>
            </p:grpSpPr>
            <p:sp>
              <p:nvSpPr>
                <p:cNvPr id="199" name="Google Shape;199;p20"/>
                <p:cNvSpPr txBox="1"/>
                <p:nvPr/>
              </p:nvSpPr>
              <p:spPr>
                <a:xfrm>
                  <a:off x="638900" y="2963400"/>
                  <a:ext cx="52770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-323850" lvl="0" marL="457200" marR="0" rtl="0" algn="l">
                    <a:lnSpc>
                      <a:spcPct val="14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94A3B8"/>
                    </a:buClr>
                    <a:buSzPts val="1500"/>
                    <a:buFont typeface="Urbanist"/>
                    <a:buChar char="●"/>
                  </a:pPr>
                  <a:r>
                    <a:rPr b="0" i="0" lang="en-US" sz="1500" u="none" cap="none" strike="noStrike">
                      <a:solidFill>
                        <a:srgbClr val="94A3B8"/>
                      </a:solidFill>
                      <a:latin typeface="Urbanist"/>
                      <a:ea typeface="Urbanist"/>
                      <a:cs typeface="Urbanist"/>
                      <a:sym typeface="Urbanist"/>
                    </a:rPr>
                    <a:t>Pega um item e o insere na posição exata entre os já ordenados à esquerda.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" name="Google Shape;200;p20"/>
                <p:cNvSpPr txBox="1"/>
                <p:nvPr/>
              </p:nvSpPr>
              <p:spPr>
                <a:xfrm>
                  <a:off x="638900" y="3718800"/>
                  <a:ext cx="5330400" cy="23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38100" spcFirstLastPara="1" rIns="0" wrap="square" tIns="0">
                  <a:spAutoFit/>
                </a:bodyPr>
                <a:lstStyle/>
                <a:p>
                  <a:pPr indent="-323850" lvl="0" marL="457200" marR="0" rtl="0" algn="l">
                    <a:lnSpc>
                      <a:spcPct val="14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94A3B8"/>
                    </a:buClr>
                    <a:buSzPts val="1500"/>
                    <a:buFont typeface="Urbanist"/>
                    <a:buChar char="●"/>
                  </a:pPr>
                  <a:r>
                    <a:rPr b="0" i="0" lang="en-US" sz="1500" u="none" cap="none" strike="noStrike">
                      <a:solidFill>
                        <a:srgbClr val="94A3B8"/>
                      </a:solidFill>
                      <a:latin typeface="Urbanist"/>
                      <a:ea typeface="Urbanist"/>
                      <a:cs typeface="Urbanist"/>
                      <a:sym typeface="Urbanist"/>
                    </a:rPr>
                    <a:t>Extremamente rápido para dados quase ordenados.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01" name="Google Shape;201;p20"/>
              <p:cNvSpPr txBox="1"/>
              <p:nvPr/>
            </p:nvSpPr>
            <p:spPr>
              <a:xfrm>
                <a:off x="638175" y="4231550"/>
                <a:ext cx="54258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38100" spcFirstLastPara="1" rIns="0" wrap="square" tIns="0">
                <a:spAutoFit/>
              </a:bodyPr>
              <a:lstStyle/>
              <a:p>
                <a:pPr indent="-323850" lvl="0" marL="457200" marR="0" rtl="0" algn="l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4A3B8"/>
                  </a:buClr>
                  <a:buSzPts val="1500"/>
                  <a:buFont typeface="Urbanist"/>
                  <a:buChar char="●"/>
                </a:pPr>
                <a:r>
                  <a:rPr b="0" i="0" lang="en-US" sz="1500" u="none" cap="none" strike="noStrike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Melhor cenário: Linear.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image.png" id="202" name="Google Shape;202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067550" y="4204175"/>
              <a:ext cx="609600" cy="285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286000"/>
            <a:ext cx="34861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6050" y="2363950"/>
            <a:ext cx="348615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7078875" y="2817650"/>
            <a:ext cx="304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Deteção de Ordem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7151325" y="3511113"/>
            <a:ext cx="28956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 a lista está  um pouco ordenada, ele apenas verifica cada item uma vez (          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2" name="Google Shape;21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74250" y="4145000"/>
            <a:ext cx="6096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Por que o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Insertion</a:t>
            </a: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se destaca?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4" name="Google Shape;21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58387" y="2363950"/>
            <a:ext cx="348615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1881200" y="2875050"/>
            <a:ext cx="304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Baixo Overhead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1881188" y="3511113"/>
            <a:ext cx="28956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Simplicidade absoluta. Menos instruções de CPU para conjuntos pequenos (n &lt; 50).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/>
          <p:nvPr/>
        </p:nvSpPr>
        <p:spPr>
          <a:xfrm>
            <a:off x="5619750" y="2652712"/>
            <a:ext cx="952500" cy="477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295275" y="2986087"/>
            <a:ext cx="1160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Métodos </a:t>
            </a:r>
            <a:r>
              <a:rPr b="1" i="0" lang="en-US" sz="4800" u="none" cap="none" strike="noStrik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Fortes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571500" y="4062412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Complexidade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6" name="Google Shape;2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99488" y="4075875"/>
            <a:ext cx="914548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923925" y="4162425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923925" y="4429125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4" name="Google Shape;23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6725" y="4419600"/>
            <a:ext cx="6096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Visual: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Merge Sort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23"/>
          <p:cNvPicPr preferRelativeResize="0"/>
          <p:nvPr/>
        </p:nvPicPr>
        <p:blipFill rotWithShape="1">
          <a:blip r:embed="rId5">
            <a:alphaModFix/>
          </a:blip>
          <a:srcRect b="0" l="4123" r="0" t="0"/>
          <a:stretch/>
        </p:blipFill>
        <p:spPr>
          <a:xfrm>
            <a:off x="6419088" y="1591056"/>
            <a:ext cx="5135425" cy="357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0500" y="2681000"/>
            <a:ext cx="5678050" cy="2490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9" name="Google Shape;239;p23"/>
          <p:cNvGrpSpPr/>
          <p:nvPr/>
        </p:nvGrpSpPr>
        <p:grpSpPr>
          <a:xfrm>
            <a:off x="509975" y="2951550"/>
            <a:ext cx="5348100" cy="1549375"/>
            <a:chOff x="509975" y="2951550"/>
            <a:chExt cx="5348100" cy="1549375"/>
          </a:xfrm>
        </p:grpSpPr>
        <p:grpSp>
          <p:nvGrpSpPr>
            <p:cNvPr id="240" name="Google Shape;240;p23"/>
            <p:cNvGrpSpPr/>
            <p:nvPr/>
          </p:nvGrpSpPr>
          <p:grpSpPr>
            <a:xfrm>
              <a:off x="510125" y="2951550"/>
              <a:ext cx="5347900" cy="997988"/>
              <a:chOff x="510125" y="2951550"/>
              <a:chExt cx="5347900" cy="997988"/>
            </a:xfrm>
          </p:grpSpPr>
          <p:sp>
            <p:nvSpPr>
              <p:cNvPr id="241" name="Google Shape;241;p23"/>
              <p:cNvSpPr txBox="1"/>
              <p:nvPr/>
            </p:nvSpPr>
            <p:spPr>
              <a:xfrm>
                <a:off x="581025" y="2951550"/>
                <a:ext cx="52770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-323850" lvl="0" marL="457200" marR="0" rtl="0" algn="l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4A3B8"/>
                  </a:buClr>
                  <a:buSzPts val="1500"/>
                  <a:buFont typeface="Urbanist"/>
                  <a:buChar char="●"/>
                </a:pPr>
                <a:r>
                  <a:rPr b="0" i="0" lang="en-US" sz="1500" u="none" cap="none" strike="noStrike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Divide o array ao meio recursivamente até unidades individuais e as mescla de volta ordenadamente.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23"/>
              <p:cNvSpPr txBox="1"/>
              <p:nvPr/>
            </p:nvSpPr>
            <p:spPr>
              <a:xfrm>
                <a:off x="510125" y="3718538"/>
                <a:ext cx="53478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38100" spcFirstLastPara="1" rIns="0" wrap="square" tIns="0">
                <a:spAutoFit/>
              </a:bodyPr>
              <a:lstStyle/>
              <a:p>
                <a:pPr indent="-323850" lvl="0" marL="457200" marR="0" rtl="0" algn="l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4A3B8"/>
                  </a:buClr>
                  <a:buSzPts val="1500"/>
                  <a:buFont typeface="Urbanist"/>
                  <a:buChar char="●"/>
                </a:pPr>
                <a:r>
                  <a:rPr b="0" i="0" lang="en-US" sz="1500" u="none" cap="none" strike="noStrike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Garante performance estável em todos os casos.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3" name="Google Shape;243;p23"/>
            <p:cNvSpPr txBox="1"/>
            <p:nvPr/>
          </p:nvSpPr>
          <p:spPr>
            <a:xfrm>
              <a:off x="509975" y="4269925"/>
              <a:ext cx="53481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38100" spcFirstLastPara="1" rIns="0" wrap="square" tIns="0">
              <a:spAutoFit/>
            </a:bodyPr>
            <a:lstStyle/>
            <a:p>
              <a:pPr indent="-323850" lvl="0" marL="45720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500"/>
                <a:buFont typeface="Urbanist"/>
                <a:buChar char="●"/>
              </a:pPr>
              <a:r>
                <a:rPr b="0" i="0" lang="en-US" sz="1500" u="none" cap="none" strike="noStrik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Custo de memória: Exige espaço extra 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Visual: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Quick Sort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088" y="1591056"/>
            <a:ext cx="5207100" cy="351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4250" y="2732550"/>
            <a:ext cx="5678050" cy="2490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4"/>
          <p:cNvGrpSpPr/>
          <p:nvPr/>
        </p:nvGrpSpPr>
        <p:grpSpPr>
          <a:xfrm>
            <a:off x="536988" y="3106831"/>
            <a:ext cx="5321112" cy="1526619"/>
            <a:chOff x="536988" y="3106831"/>
            <a:chExt cx="5321112" cy="1526619"/>
          </a:xfrm>
        </p:grpSpPr>
        <p:sp>
          <p:nvSpPr>
            <p:cNvPr id="254" name="Google Shape;254;p24"/>
            <p:cNvSpPr txBox="1"/>
            <p:nvPr/>
          </p:nvSpPr>
          <p:spPr>
            <a:xfrm>
              <a:off x="581025" y="3106831"/>
              <a:ext cx="5277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23850" lvl="0" marL="45720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500"/>
                <a:buFont typeface="Urbanist"/>
                <a:buChar char="●"/>
              </a:pPr>
              <a:r>
                <a:rPr b="0" i="0" lang="en-US" sz="1500" u="none" cap="none" strike="noStrik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Utiliza um </a:t>
              </a:r>
              <a:r>
                <a:rPr b="1" i="0" lang="en-US" sz="1500" u="none" cap="none" strike="noStrik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pivô</a:t>
              </a:r>
              <a:r>
                <a:rPr b="0" i="0" lang="en-US" sz="1500" u="none" cap="none" strike="noStrik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para separar menores à esquerda e maiores à direita.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5" name="Google Shape;255;p24"/>
            <p:cNvGrpSpPr/>
            <p:nvPr/>
          </p:nvGrpSpPr>
          <p:grpSpPr>
            <a:xfrm>
              <a:off x="536988" y="3862400"/>
              <a:ext cx="5321112" cy="771050"/>
              <a:chOff x="536988" y="3862400"/>
              <a:chExt cx="5321112" cy="771050"/>
            </a:xfrm>
          </p:grpSpPr>
          <p:sp>
            <p:nvSpPr>
              <p:cNvPr id="256" name="Google Shape;256;p24"/>
              <p:cNvSpPr txBox="1"/>
              <p:nvPr/>
            </p:nvSpPr>
            <p:spPr>
              <a:xfrm>
                <a:off x="536988" y="3862400"/>
                <a:ext cx="53211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38100" spcFirstLastPara="1" rIns="0" wrap="square" tIns="0">
                <a:spAutoFit/>
              </a:bodyPr>
              <a:lstStyle/>
              <a:p>
                <a:pPr indent="-323850" lvl="0" marL="457200" marR="0" rtl="0" algn="l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4A3B8"/>
                  </a:buClr>
                  <a:buSzPts val="1500"/>
                  <a:buFont typeface="Urbanist"/>
                  <a:buChar char="●"/>
                </a:pPr>
                <a:r>
                  <a:rPr b="0" i="0" lang="en-US" sz="1500" u="none" cap="none" strike="noStrike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Não exige memória extra para cópias de dados.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24"/>
              <p:cNvSpPr txBox="1"/>
              <p:nvPr/>
            </p:nvSpPr>
            <p:spPr>
              <a:xfrm>
                <a:off x="537000" y="4402450"/>
                <a:ext cx="53211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38100" spcFirstLastPara="1" rIns="0" wrap="square" tIns="0">
                <a:spAutoFit/>
              </a:bodyPr>
              <a:lstStyle/>
              <a:p>
                <a:pPr indent="-323850" lvl="0" marL="457200" marR="0" rtl="0" algn="l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4A3B8"/>
                  </a:buClr>
                  <a:buSzPts val="1500"/>
                  <a:buFont typeface="Urbanist"/>
                  <a:buChar char="●"/>
                </a:pPr>
                <a:r>
                  <a:rPr b="0" i="0" lang="en-US" sz="1500" u="none" cap="none" strike="noStrike">
                    <a:solidFill>
                      <a:srgbClr val="94A3B8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O favorito da indústria pela velocidade média.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"/>
          <p:cNvSpPr txBox="1"/>
          <p:nvPr/>
        </p:nvSpPr>
        <p:spPr>
          <a:xfrm>
            <a:off x="6677025" y="4162425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771525" y="581025"/>
            <a:ext cx="11381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Visual: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Heap Sort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2600" y="1349975"/>
            <a:ext cx="6915076" cy="2812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" name="Google Shape;266;p25"/>
          <p:cNvGrpSpPr/>
          <p:nvPr/>
        </p:nvGrpSpPr>
        <p:grpSpPr>
          <a:xfrm>
            <a:off x="819375" y="4429125"/>
            <a:ext cx="8978200" cy="2133750"/>
            <a:chOff x="1253175" y="4628575"/>
            <a:chExt cx="8978200" cy="2133750"/>
          </a:xfrm>
        </p:grpSpPr>
        <p:pic>
          <p:nvPicPr>
            <p:cNvPr descr="image.png" id="267" name="Google Shape;26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53175" y="4628575"/>
              <a:ext cx="8978200" cy="2133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5"/>
            <p:cNvSpPr txBox="1"/>
            <p:nvPr/>
          </p:nvSpPr>
          <p:spPr>
            <a:xfrm>
              <a:off x="1337050" y="5085875"/>
              <a:ext cx="85737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23850" lvl="0" marL="45720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500"/>
                <a:buFont typeface="Urbanist"/>
                <a:buChar char="●"/>
              </a:pPr>
              <a:r>
                <a:rPr b="0" i="0" lang="en-US" sz="1500" u="none" cap="none" strike="noStrik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Organiza dados em uma árvore binária onde o pai é sempre maior que os filhos.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5"/>
            <p:cNvSpPr txBox="1"/>
            <p:nvPr/>
          </p:nvSpPr>
          <p:spPr>
            <a:xfrm>
              <a:off x="1274297" y="5823025"/>
              <a:ext cx="78852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38100" spcFirstLastPara="1" rIns="0" wrap="square" tIns="0">
              <a:spAutoFit/>
            </a:bodyPr>
            <a:lstStyle/>
            <a:p>
              <a:pPr indent="-323850" lvl="0" marL="45720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500"/>
                <a:buFont typeface="Urbanist"/>
                <a:buChar char="●"/>
              </a:pPr>
              <a:r>
                <a:rPr b="0" i="0" lang="en-US" sz="1500" u="none" cap="none" strike="noStrik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Garante alta performance sem gastar memória extra.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5"/>
            <p:cNvSpPr txBox="1"/>
            <p:nvPr/>
          </p:nvSpPr>
          <p:spPr>
            <a:xfrm>
              <a:off x="1288040" y="5454450"/>
              <a:ext cx="88188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38100" spcFirstLastPara="1" rIns="0" wrap="square" tIns="0">
              <a:spAutoFit/>
            </a:bodyPr>
            <a:lstStyle/>
            <a:p>
              <a:pPr indent="-323850" lvl="0" marL="45720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500"/>
                <a:buFont typeface="Urbanist"/>
                <a:buChar char="●"/>
              </a:pPr>
              <a:r>
                <a:rPr b="0" i="0" lang="en-US" sz="1500" u="none" cap="none" strike="noStrike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Extrai o maior elemento da raiz sucessivamente.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6" name="Google Shape;276;p26"/>
          <p:cNvGraphicFramePr/>
          <p:nvPr/>
        </p:nvGraphicFramePr>
        <p:xfrm>
          <a:off x="581013" y="21645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{1580C27F-4FB5-443D-98DB-2DDFE9BF1B5C}</a:tableStyleId>
              </a:tblPr>
              <a:tblGrid>
                <a:gridCol w="2553450"/>
                <a:gridCol w="2766275"/>
                <a:gridCol w="2766275"/>
                <a:gridCol w="2943975"/>
              </a:tblGrid>
              <a:tr h="62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Algoritmo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Melhor Caso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Pior Caso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Espaço (RAM)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62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Insertion</a:t>
                      </a:r>
                      <a:endParaRPr b="1"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O(n)</a:t>
                      </a:r>
                      <a:endParaRPr b="1"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O(n²)</a:t>
                      </a:r>
                      <a:endParaRPr b="1"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O(1)</a:t>
                      </a:r>
                      <a:endParaRPr b="1"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Merge</a:t>
                      </a:r>
                      <a:endParaRPr b="1"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O(n log n)</a:t>
                      </a:r>
                      <a:endParaRPr b="1"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O(n log n)</a:t>
                      </a:r>
                      <a:endParaRPr b="1"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O(n)</a:t>
                      </a:r>
                      <a:endParaRPr b="1"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Quick</a:t>
                      </a:r>
                      <a:endParaRPr b="1"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O(n log n)</a:t>
                      </a:r>
                      <a:endParaRPr b="1"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O(n²)</a:t>
                      </a:r>
                      <a:endParaRPr b="1"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O(log n)</a:t>
                      </a:r>
                      <a:endParaRPr b="1"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Heap</a:t>
                      </a:r>
                      <a:endParaRPr b="1"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O(n log n)</a:t>
                      </a:r>
                      <a:endParaRPr b="1"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O(n log n)</a:t>
                      </a:r>
                      <a:endParaRPr b="1"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O(1)</a:t>
                      </a:r>
                      <a:endParaRPr b="1"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7" name="Google Shape;277;p26"/>
          <p:cNvSpPr/>
          <p:nvPr/>
        </p:nvSpPr>
        <p:spPr>
          <a:xfrm>
            <a:off x="581025" y="2047875"/>
            <a:ext cx="2553444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3134469" y="2047875"/>
            <a:ext cx="2766268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5900737" y="2047875"/>
            <a:ext cx="2766268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8667005" y="2047875"/>
            <a:ext cx="2943969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581025" y="2681287"/>
            <a:ext cx="25533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3134469" y="2681287"/>
            <a:ext cx="27662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5900737" y="2681287"/>
            <a:ext cx="27662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8667005" y="2681287"/>
            <a:ext cx="294396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581025" y="3300412"/>
            <a:ext cx="25534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3134469" y="3300412"/>
            <a:ext cx="27662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5900737" y="3300412"/>
            <a:ext cx="27662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8667005" y="3300412"/>
            <a:ext cx="294396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581025" y="3919537"/>
            <a:ext cx="25534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3134469" y="3919537"/>
            <a:ext cx="27662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6"/>
          <p:cNvSpPr/>
          <p:nvPr/>
        </p:nvSpPr>
        <p:spPr>
          <a:xfrm>
            <a:off x="5900737" y="3919537"/>
            <a:ext cx="27662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8667005" y="3919537"/>
            <a:ext cx="294396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581025" y="4538662"/>
            <a:ext cx="25534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3134469" y="4538662"/>
            <a:ext cx="27662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5900737" y="4538662"/>
            <a:ext cx="27662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8667005" y="4538662"/>
            <a:ext cx="294396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6"/>
          <p:cNvSpPr txBox="1"/>
          <p:nvPr/>
        </p:nvSpPr>
        <p:spPr>
          <a:xfrm>
            <a:off x="771525" y="56197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Comparação &amp;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Risco Técnico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581025" y="56197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7"/>
          <p:cNvSpPr txBox="1"/>
          <p:nvPr/>
        </p:nvSpPr>
        <p:spPr>
          <a:xfrm>
            <a:off x="221526" y="3138309"/>
            <a:ext cx="11581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Implementação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5619750" y="2652712"/>
            <a:ext cx="952500" cy="477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8"/>
          <p:cNvSpPr txBox="1"/>
          <p:nvPr/>
        </p:nvSpPr>
        <p:spPr>
          <a:xfrm>
            <a:off x="771525" y="56197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Lista e Cronômetro de cada método</a:t>
            </a:r>
            <a:endParaRPr b="0" i="0" sz="1400" u="none" cap="none" strike="noStrike">
              <a:solidFill>
                <a:srgbClr val="DEFF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581025" y="561975"/>
            <a:ext cx="57300" cy="5526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28"/>
          <p:cNvPicPr preferRelativeResize="0"/>
          <p:nvPr/>
        </p:nvPicPr>
        <p:blipFill rotWithShape="1">
          <a:blip r:embed="rId3">
            <a:alphaModFix/>
          </a:blip>
          <a:srcRect b="6242" l="5444" r="5937" t="6087"/>
          <a:stretch/>
        </p:blipFill>
        <p:spPr>
          <a:xfrm>
            <a:off x="771525" y="1554237"/>
            <a:ext cx="4495419" cy="4217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8"/>
          <p:cNvPicPr preferRelativeResize="0"/>
          <p:nvPr/>
        </p:nvPicPr>
        <p:blipFill rotWithShape="1">
          <a:blip r:embed="rId4">
            <a:alphaModFix/>
          </a:blip>
          <a:srcRect b="5423" l="5301" r="4814" t="4978"/>
          <a:stretch/>
        </p:blipFill>
        <p:spPr>
          <a:xfrm>
            <a:off x="7259220" y="1554237"/>
            <a:ext cx="4161255" cy="4217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"/>
          <p:cNvSpPr txBox="1"/>
          <p:nvPr/>
        </p:nvSpPr>
        <p:spPr>
          <a:xfrm>
            <a:off x="771525" y="56197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Implementação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Metodos Fracos (Bubble)</a:t>
            </a:r>
            <a:endParaRPr b="0" i="0" sz="1400" u="none" cap="none" strike="noStrike">
              <a:solidFill>
                <a:srgbClr val="DEFF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9"/>
          <p:cNvSpPr/>
          <p:nvPr/>
        </p:nvSpPr>
        <p:spPr>
          <a:xfrm>
            <a:off x="581025" y="561975"/>
            <a:ext cx="57300" cy="5526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" name="Google Shape;320;p29"/>
          <p:cNvPicPr preferRelativeResize="0"/>
          <p:nvPr/>
        </p:nvPicPr>
        <p:blipFill rotWithShape="1">
          <a:blip r:embed="rId3">
            <a:alphaModFix/>
          </a:blip>
          <a:srcRect b="8195" l="5633" r="5325" t="8195"/>
          <a:stretch/>
        </p:blipFill>
        <p:spPr>
          <a:xfrm>
            <a:off x="2114868" y="1209293"/>
            <a:ext cx="7962264" cy="5264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0"/>
          <p:cNvSpPr txBox="1"/>
          <p:nvPr/>
        </p:nvSpPr>
        <p:spPr>
          <a:xfrm>
            <a:off x="771525" y="56197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Implementação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Metodos Fracos (Selection e Insertion)</a:t>
            </a:r>
            <a:endParaRPr b="0" i="0" sz="1400" u="none" cap="none" strike="noStrike">
              <a:solidFill>
                <a:srgbClr val="DEFF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0"/>
          <p:cNvSpPr/>
          <p:nvPr/>
        </p:nvSpPr>
        <p:spPr>
          <a:xfrm>
            <a:off x="581025" y="561975"/>
            <a:ext cx="57300" cy="5526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30"/>
          <p:cNvPicPr preferRelativeResize="0"/>
          <p:nvPr/>
        </p:nvPicPr>
        <p:blipFill rotWithShape="1">
          <a:blip r:embed="rId3">
            <a:alphaModFix/>
          </a:blip>
          <a:srcRect b="11902" l="6328" r="5700" t="12263"/>
          <a:stretch/>
        </p:blipFill>
        <p:spPr>
          <a:xfrm>
            <a:off x="3397947" y="1338150"/>
            <a:ext cx="5789017" cy="2398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0"/>
          <p:cNvPicPr preferRelativeResize="0"/>
          <p:nvPr/>
        </p:nvPicPr>
        <p:blipFill rotWithShape="1">
          <a:blip r:embed="rId4">
            <a:alphaModFix/>
          </a:blip>
          <a:srcRect b="11112" l="5819" r="6175" t="10657"/>
          <a:stretch/>
        </p:blipFill>
        <p:spPr>
          <a:xfrm>
            <a:off x="3397947" y="3824891"/>
            <a:ext cx="5789017" cy="2828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 txBox="1"/>
          <p:nvPr/>
        </p:nvSpPr>
        <p:spPr>
          <a:xfrm>
            <a:off x="771525" y="56197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Implementação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Metodos Fortes (Quick Sort)</a:t>
            </a:r>
            <a:endParaRPr b="0" i="0" sz="1400" u="none" cap="none" strike="noStrike">
              <a:solidFill>
                <a:srgbClr val="DEFF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1"/>
          <p:cNvSpPr/>
          <p:nvPr/>
        </p:nvSpPr>
        <p:spPr>
          <a:xfrm>
            <a:off x="581025" y="561975"/>
            <a:ext cx="57300" cy="5526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31"/>
          <p:cNvPicPr preferRelativeResize="0"/>
          <p:nvPr/>
        </p:nvPicPr>
        <p:blipFill rotWithShape="1">
          <a:blip r:embed="rId3">
            <a:alphaModFix/>
          </a:blip>
          <a:srcRect b="8195" l="6392" r="6795" t="8195"/>
          <a:stretch/>
        </p:blipFill>
        <p:spPr>
          <a:xfrm>
            <a:off x="2985210" y="1442047"/>
            <a:ext cx="6221580" cy="5016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"/>
          <p:cNvSpPr txBox="1"/>
          <p:nvPr/>
        </p:nvSpPr>
        <p:spPr>
          <a:xfrm>
            <a:off x="771525" y="56197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Implementação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Metodos Fortes (Merge Sort)</a:t>
            </a:r>
            <a:endParaRPr b="0" i="0" sz="1400" u="none" cap="none" strike="noStrike">
              <a:solidFill>
                <a:srgbClr val="DEFF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2"/>
          <p:cNvSpPr/>
          <p:nvPr/>
        </p:nvSpPr>
        <p:spPr>
          <a:xfrm>
            <a:off x="581025" y="561975"/>
            <a:ext cx="57300" cy="5526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6844" l="6633" r="6508" t="6577"/>
          <a:stretch/>
        </p:blipFill>
        <p:spPr>
          <a:xfrm>
            <a:off x="3505200" y="1358528"/>
            <a:ext cx="5181600" cy="5115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 txBox="1"/>
          <p:nvPr/>
        </p:nvSpPr>
        <p:spPr>
          <a:xfrm>
            <a:off x="771525" y="56197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Implementação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Metodos Fortes (Heap Sort)</a:t>
            </a:r>
            <a:endParaRPr b="0" i="0" sz="1400" u="none" cap="none" strike="noStrike">
              <a:solidFill>
                <a:srgbClr val="DEFF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3"/>
          <p:cNvSpPr/>
          <p:nvPr/>
        </p:nvSpPr>
        <p:spPr>
          <a:xfrm>
            <a:off x="581025" y="561975"/>
            <a:ext cx="57300" cy="5526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33"/>
          <p:cNvPicPr preferRelativeResize="0"/>
          <p:nvPr/>
        </p:nvPicPr>
        <p:blipFill rotWithShape="1">
          <a:blip r:embed="rId3">
            <a:alphaModFix/>
          </a:blip>
          <a:srcRect b="7735" l="5687" r="5990" t="7455"/>
          <a:stretch/>
        </p:blipFill>
        <p:spPr>
          <a:xfrm>
            <a:off x="2898036" y="1426464"/>
            <a:ext cx="6428844" cy="4869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4" name="Google Shape;35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4"/>
          <p:cNvSpPr txBox="1"/>
          <p:nvPr/>
        </p:nvSpPr>
        <p:spPr>
          <a:xfrm>
            <a:off x="221526" y="3138309"/>
            <a:ext cx="11581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Obrigado!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